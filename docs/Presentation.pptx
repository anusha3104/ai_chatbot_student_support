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63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5F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MINOR PROJECT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9601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Chatbot for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Support Services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402336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offline, NLP-based chatbot using TF-IDF and Cosine Similarity to answer common student queries — no paid APIs, no internet required.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943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[Your Name]   |   Roll No: [xxxx]   |   Guide: [Guide Name]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1247120" cy="18288"/>
          </a:xfrm>
          <a:prstGeom prst="rect">
            <a:avLst/>
          </a:prstGeom>
          <a:solidFill>
            <a:srgbClr val="DCE4EA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645920"/>
            <a:ext cx="2606040" cy="42062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85900" y="196596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148590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27889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Repetitive Queries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337560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ask the same questions (fees, hostel, exams) again and again to office staff.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1645920"/>
            <a:ext cx="2606040" cy="42062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20540" y="196596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432054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20440" y="27889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Response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20440" y="3337560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replies via email/phone are slow, especially outside office hours.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1645920"/>
            <a:ext cx="2606040" cy="42062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55180" y="196596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715518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355080" y="27889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Staff Workload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55080" y="3337560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 staff spend significant time answering routine questions.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06840" y="1645920"/>
            <a:ext cx="2606040" cy="42062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989820" y="196596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998982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189720" y="27889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Costly Alternatives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189720" y="3337560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AI chatbots need paid APIs, internet access, and raise data-privacy concerns.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320040" cy="3200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88720" y="137160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CSV-based knowledge base covering common student query categories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075688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0756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2029968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 text using standard NLP techniques (lowercasing, punctuation &amp; stopword removal)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2734056"/>
            <a:ext cx="320040" cy="3200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7340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2688336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user queries using TF-IDF vectorization + Cosine Similarity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392424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3924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3346704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greetings, farewells, and out-of-scope questions gracefully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4050792"/>
            <a:ext cx="320040" cy="3200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050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4005072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Tolerate minor spelling mistakes for a smoother user experience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4709160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709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88720" y="466344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every conversation for future dataset improvement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0080" y="5367528"/>
            <a:ext cx="320040" cy="3200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53675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88720" y="5321808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entire solution free, offline, and beginner-friendly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55448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065A82">
              <a:alpha val="8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783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F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3317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programming language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297680" y="155448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065A82">
              <a:alpha val="8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26280" y="1783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F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26280" y="23317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environment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092440" y="155448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065A82">
              <a:alpha val="8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21040" y="1783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F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numpy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321040" y="23317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 &amp; handling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384048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065A82">
              <a:alpha val="8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069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F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46177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Stopword removal, tokenization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97680" y="384048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065A82">
              <a:alpha val="8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26280" y="4069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F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26280" y="46177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vectorizer, cosine similarity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92440" y="384048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065A82">
              <a:alpha val="8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0" y="4069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F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files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321040" y="46177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 + conversation logs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pic>
        <p:nvPicPr>
          <p:cNvPr id="3" name="Image 0" descr="/home/claude/project/images/architec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371600"/>
            <a:ext cx="10698480" cy="4846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Chatbot Working - Flowchart</a:t>
            </a:r>
            <a:endParaRPr lang="en-US" sz="3000" dirty="0"/>
          </a:p>
        </p:txBody>
      </p:sp>
      <p:pic>
        <p:nvPicPr>
          <p:cNvPr id="3" name="Image 0" descr="/home/claude/project/images/flowchar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108960" y="1097280"/>
            <a:ext cx="5943600" cy="5486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student_queries.csv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F4F8FA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116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</a:rPr>
              <a:t>120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194560" y="21488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Question-Answer Pairs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</a:rPr>
              <a:t>11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194560" y="33375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Query Categories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438912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</a:rPr>
              <a:t>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194560" y="45262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Columns: category, question, answer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09360" y="12344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Covered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09360" y="1737360"/>
            <a:ext cx="1828800" cy="43891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173736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Admissions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75320" y="1737360"/>
            <a:ext cx="950976" cy="43891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8275320" y="1737360"/>
            <a:ext cx="9509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Fees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363456" y="1737360"/>
            <a:ext cx="1243584" cy="43891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9363456" y="1737360"/>
            <a:ext cx="1243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Hostel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09360" y="2304288"/>
            <a:ext cx="1389888" cy="43891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2304288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Library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836408" y="2304288"/>
            <a:ext cx="1975104" cy="43891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7836408" y="2304288"/>
            <a:ext cx="1975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Examination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948672" y="2304288"/>
            <a:ext cx="1828800" cy="43891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9948672" y="230428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Placements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09360" y="2871216"/>
            <a:ext cx="2121408" cy="43891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2871216"/>
            <a:ext cx="21214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Scholarships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567928" y="2871216"/>
            <a:ext cx="1389888" cy="43891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8567928" y="2871216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Faculty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09360" y="3438144"/>
            <a:ext cx="2852928" cy="43891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6309360" y="3438144"/>
            <a:ext cx="2852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Academic Calendar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09360" y="4005072"/>
            <a:ext cx="2560320" cy="43891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400507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College Timings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006840" y="4005072"/>
            <a:ext cx="2560320" cy="43891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3" name="Text 31"/>
          <p:cNvSpPr/>
          <p:nvPr/>
        </p:nvSpPr>
        <p:spPr>
          <a:xfrm>
            <a:off x="9006840" y="400507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Student Support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Works: The NLP Pipeline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2743200"/>
            <a:ext cx="1920240" cy="13716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User Input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2377440" y="2743200"/>
            <a:ext cx="411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FD4C4"/>
                </a:solidFill>
              </a:rPr>
              <a:t>→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88920" y="2743200"/>
            <a:ext cx="1920240" cy="13716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2880360" y="274320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Preprocess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(lowercase, remove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punctuation &amp; stopwords)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709160" y="2743200"/>
            <a:ext cx="411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FD4C4"/>
                </a:solidFill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120640" y="2743200"/>
            <a:ext cx="1920240" cy="13716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0" y="274320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TF-IDF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Vectorization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040880" y="2743200"/>
            <a:ext cx="411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FD4C4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452360" y="2743200"/>
            <a:ext cx="1920240" cy="13716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7543800" y="274320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Cosine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Similarity Match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372600" y="2743200"/>
            <a:ext cx="411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FD4C4"/>
                </a:solidFill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9784080" y="2743200"/>
            <a:ext cx="1920240" cy="1371600"/>
          </a:xfrm>
          <a:prstGeom prst="roundRect">
            <a:avLst>
              <a:gd name="adj" fmla="val 8000"/>
            </a:avLst>
          </a:prstGeom>
          <a:solidFill>
            <a:srgbClr val="5FD4C4"/>
          </a:solidFill>
          <a:ln/>
        </p:spPr>
      </p:sp>
      <p:sp>
        <p:nvSpPr>
          <p:cNvPr id="16" name="Text 14"/>
          <p:cNvSpPr/>
          <p:nvPr/>
        </p:nvSpPr>
        <p:spPr>
          <a:xfrm>
            <a:off x="9875520" y="274320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</a:rPr>
              <a:t>Return Best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</a:rPr>
              <a:t>Answer + Score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46634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FC4D6"/>
                </a:solidFill>
              </a:rPr>
              <a:t>TF-IDF = Term Frequency - Inverse Document Frequency  |  Cosine Similarity measures the angle between two text vectors (0 to 1)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71600" y="539496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</a:rPr>
              <a:t>If the best similarity score is below 0.30, the chatbot returns: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</a:rPr>
              <a:t>"Sorry, I couldn't find an answer. Please contact the Student Support Office."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4F8FA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36192"/>
            <a:ext cx="109728" cy="905256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4173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&amp; Free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18745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paid API, no internet connection needed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09360" y="128016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4F8FA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92240" y="1536192"/>
            <a:ext cx="109728" cy="905256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6766560" y="14173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766560" y="18745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shown with a similarity confidence score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4F8FA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3227832"/>
            <a:ext cx="109728" cy="905256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108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Greeting Detection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05840" y="35661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Responds naturally to hi, hello, good morning, etc.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0" y="297180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4F8FA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92240" y="3227832"/>
            <a:ext cx="109728" cy="905256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0" y="3108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Tolerance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766560" y="35661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Corrects minor typos using difflib close-word matching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66344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4F8FA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919472"/>
            <a:ext cx="109728" cy="905256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8006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Logging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05840" y="52578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 logged with timestamp to chat_log.csv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09360" y="466344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4F8FA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92240" y="4919472"/>
            <a:ext cx="109728" cy="905256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6766560" y="48006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Fallback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766560" y="52578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Politely redirects unanswerable queries to the support office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Conversation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194560" y="1280160"/>
            <a:ext cx="7772400" cy="5120640"/>
          </a:xfrm>
          <a:prstGeom prst="roundRect">
            <a:avLst>
              <a:gd name="adj" fmla="val 2143"/>
            </a:avLst>
          </a:prstGeom>
          <a:solidFill>
            <a:srgbClr val="10182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468880" y="150876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D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00400" y="150876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468880" y="2075688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0" y="2075688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Hello! I am your Student Support Assistant. How can I help you today?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468880" y="2642616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D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0" y="2642616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can I apply for admission?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468880" y="3209544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0" y="3209544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can apply online through the official college admission portal...  (confidence: 0.83)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468880" y="3776472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D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0" y="3776472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wat is da libary timing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468880" y="43434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Bot: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00400" y="434340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library is open from 8:00 AM to 8:00 PM on all working days...  (confidence: 0.61)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468880" y="4910328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D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You: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00400" y="4910328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468880" y="5477256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Bot: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0" y="5477256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Thank you for using the Student Support Chatbot. Goodbye!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Results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5895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754880"/>
                <a:gridCol w="13716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Test Case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Input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TC01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hi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Pass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TC02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How can I apply for admission?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Pass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TC03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wat is da libary timing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Pass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TC04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how is the weather today (out of scope)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Pass (fallback shown)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TC05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bye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Pass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595360" y="14630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65A82"/>
                </a:solidFill>
              </a:rPr>
              <a:t>8 / 8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8595360" y="24231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4546A"/>
                </a:solidFill>
              </a:rPr>
              <a:t>Test cases passed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595360" y="3108960"/>
            <a:ext cx="2926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546A"/>
                </a:solidFill>
              </a:rPr>
              <a:t>Well-formed &amp; paraphrased questions matched with high confidence; out-of-scope questions correctly triggered the fallback message.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&amp; Limitations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280160"/>
            <a:ext cx="5440680" cy="512064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9050">
            <a:solidFill>
              <a:srgbClr val="CFE8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463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</a:rPr>
              <a:t>Advantages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</a:rPr>
              <a:t>✓  Completely offline &amp; free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254203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</a:rPr>
              <a:t>✓  Simple, interpretable algorithm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302666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</a:rPr>
              <a:t>✓  Easy to extend (edit CSV)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351129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</a:rPr>
              <a:t>✓  Protects student data privacy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399592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</a:rPr>
              <a:t>✓  Confidence scoring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44805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</a:rPr>
              <a:t>✓  Spelling-mistake tolerant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17920" y="1280160"/>
            <a:ext cx="5440680" cy="512064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9050">
            <a:solidFill>
              <a:srgbClr val="F0D0C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463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90011"/>
                </a:solidFill>
              </a:rPr>
              <a:t>Limitations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37960" y="20574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</a:rPr>
              <a:t>✗  Limited to dataset scope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537960" y="254203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</a:rPr>
              <a:t>✗  No deep semantic understanding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537960" y="302666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</a:rPr>
              <a:t>✗  No multi-turn context memory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537960" y="351129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</a:rPr>
              <a:t>✗  Accuracy depends on dataset size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537960" y="399592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</a:rPr>
              <a:t>✗  Notebook UI, not production-ready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94960" cy="777240"/>
          </a:xfrm>
          <a:prstGeom prst="roundRect">
            <a:avLst>
              <a:gd name="adj" fmla="val 11765"/>
            </a:avLst>
          </a:prstGeom>
          <a:solidFill>
            <a:srgbClr val="065A82">
              <a:alpha val="80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4630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Deploy as a web app using Flask / Streamlit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309360" y="1463040"/>
            <a:ext cx="5394960" cy="777240"/>
          </a:xfrm>
          <a:prstGeom prst="roundRect">
            <a:avLst>
              <a:gd name="adj" fmla="val 11765"/>
            </a:avLst>
          </a:prstGeom>
          <a:solidFill>
            <a:srgbClr val="065A82">
              <a:alpha val="80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37960" y="14630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Expand dataset using real logged queries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5394960" cy="777240"/>
          </a:xfrm>
          <a:prstGeom prst="roundRect">
            <a:avLst>
              <a:gd name="adj" fmla="val 11765"/>
            </a:avLst>
          </a:prstGeom>
          <a:solidFill>
            <a:srgbClr val="065A82">
              <a:alpha val="80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5603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Use word embeddings for better semantic matching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09360" y="2560320"/>
            <a:ext cx="5394960" cy="777240"/>
          </a:xfrm>
          <a:prstGeom prst="roundRect">
            <a:avLst>
              <a:gd name="adj" fmla="val 11765"/>
            </a:avLst>
          </a:prstGeom>
          <a:solidFill>
            <a:srgbClr val="065A82">
              <a:alpha val="80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25603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Add multi-turn conversational context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5394960" cy="777240"/>
          </a:xfrm>
          <a:prstGeom prst="roundRect">
            <a:avLst>
              <a:gd name="adj" fmla="val 11765"/>
            </a:avLst>
          </a:prstGeom>
          <a:solidFill>
            <a:srgbClr val="065A82">
              <a:alpha val="80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6576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Support Hindi &amp; regional languages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309360" y="3657600"/>
            <a:ext cx="5394960" cy="777240"/>
          </a:xfrm>
          <a:prstGeom prst="roundRect">
            <a:avLst>
              <a:gd name="adj" fmla="val 11765"/>
            </a:avLst>
          </a:prstGeom>
          <a:solidFill>
            <a:srgbClr val="065A82">
              <a:alpha val="80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36576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Add voice input/output (offline)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4754880"/>
            <a:ext cx="5394960" cy="777240"/>
          </a:xfrm>
          <a:prstGeom prst="roundRect">
            <a:avLst>
              <a:gd name="adj" fmla="val 11765"/>
            </a:avLst>
          </a:prstGeom>
          <a:solidFill>
            <a:srgbClr val="065A82">
              <a:alpha val="80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754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Build an admin analytics dashboard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1887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FD4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9784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EF3"/>
                </a:solidFill>
              </a:rPr>
              <a:t>An offline, NLP-based chatbot using TF-IDF and Cosine Similarity can accurately answer common student queries — without paid APIs, internet dependency, or complex infrastructure — making it a practical, extensible tool for real academic institutions.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40233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3C8"/>
                </a:solidFill>
              </a:rPr>
              <a:t>Questions &amp; Viva Discussion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2026-07-18T17:55:22Z</dcterms:created>
  <dcterms:modified xsi:type="dcterms:W3CDTF">2026-07-18T17:55:22Z</dcterms:modified>
</cp:coreProperties>
</file>